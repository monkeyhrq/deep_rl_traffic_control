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Outline 大綱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4572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94360" cy="594360"/>
          </a:xfrm>
          <a:prstGeom prst="ellipse">
            <a:avLst/>
          </a:prstGeom>
          <a:solidFill>
            <a:srgbClr val="4A9E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3898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研究摘要 (A–F 六大要素)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680960" y="153619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152033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15361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594360" cy="5943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1214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43230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研究動機與傳統技術瓶頸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80960" y="226771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152033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22677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594360" cy="5943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28529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Related Work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16382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文獻比較與量化效能數據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80960" y="299923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152033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29992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594360" cy="59436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35844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Proposed Scheme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4440" y="389534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DRL 系統架構、MDP 建模、DQN 演算法、設計正當性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80960" y="373075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152033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37307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pages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594360" cy="594360"/>
          </a:xfrm>
          <a:prstGeom prst="ellipse">
            <a:avLst/>
          </a:prstGeom>
          <a:solidFill>
            <a:srgbClr val="B388E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297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34440" y="43159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Expected Contribution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34440" y="462686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預期貢獻與智慧城市應用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80960" y="446227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152033"/>
          </a:solidFill>
          <a:ln w="12700">
            <a:solidFill>
              <a:srgbClr val="B388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44622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8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page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38404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— ABSTRACT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80960" y="73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 /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Abstract — 研究摘要 (A–F 六大要素)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6 張卡片濃縮整篇研究的關鍵資訊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97480" cy="1627632"/>
          </a:xfrm>
          <a:prstGeom prst="rect">
            <a:avLst/>
          </a:prstGeom>
          <a:solidFill>
            <a:srgbClr val="152033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73152" cy="1627632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1581912"/>
            <a:ext cx="457200" cy="457200"/>
          </a:xfrm>
          <a:prstGeom prst="ellipse">
            <a:avLst/>
          </a:prstGeom>
          <a:solidFill>
            <a:srgbClr val="4A9EF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70432" y="16184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Motivation 動機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2130552"/>
            <a:ext cx="2331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智慧城市與車聯網蓬勃發展，AI 動態交通號誌已成核心研究熱點。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73552" y="1417320"/>
            <a:ext cx="2697480" cy="1627632"/>
          </a:xfrm>
          <a:prstGeom prst="rect">
            <a:avLst/>
          </a:prstGeom>
          <a:solidFill>
            <a:srgbClr val="152033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73552" y="1417320"/>
            <a:ext cx="73152" cy="162763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4720" y="158191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86784" y="16184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But 挑戰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2130552"/>
            <a:ext cx="2331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傳統定時／感應式號誌缺乏全局視野，面對動態車流效率低落。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9904" y="1417320"/>
            <a:ext cx="2697480" cy="1627632"/>
          </a:xfrm>
          <a:prstGeom prst="rect">
            <a:avLst/>
          </a:prstGeom>
          <a:solidFill>
            <a:srgbClr val="152033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9904" y="1417320"/>
            <a:ext cx="73152" cy="162763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" name="Shape 20"/>
          <p:cNvSpPr/>
          <p:nvPr/>
        </p:nvSpPr>
        <p:spPr>
          <a:xfrm>
            <a:off x="6291072" y="1581912"/>
            <a:ext cx="457200" cy="45720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3" name="Text 21"/>
          <p:cNvSpPr/>
          <p:nvPr/>
        </p:nvSpPr>
        <p:spPr>
          <a:xfrm>
            <a:off x="6291072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03136" y="16184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Cure 解藥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91072" y="2130552"/>
            <a:ext cx="2331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提出基於深度強化學習 (DRL) 的動態路口決策系統。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182112"/>
            <a:ext cx="2697480" cy="1627632"/>
          </a:xfrm>
          <a:prstGeom prst="rect">
            <a:avLst/>
          </a:prstGeom>
          <a:solidFill>
            <a:srgbClr val="152033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182112"/>
            <a:ext cx="73152" cy="162763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" y="3346704"/>
            <a:ext cx="457200" cy="45720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70432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" y="3895344"/>
            <a:ext cx="2331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Based on DQN + SUMO 模擬平台 + TraCI API。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73552" y="3182112"/>
            <a:ext cx="2697480" cy="1627632"/>
          </a:xfrm>
          <a:prstGeom prst="rect">
            <a:avLst/>
          </a:prstGeom>
          <a:solidFill>
            <a:srgbClr val="152033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73552" y="3182112"/>
            <a:ext cx="73152" cy="1627632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34" name="Shape 32"/>
          <p:cNvSpPr/>
          <p:nvPr/>
        </p:nvSpPr>
        <p:spPr>
          <a:xfrm>
            <a:off x="3474720" y="3346704"/>
            <a:ext cx="457200" cy="457200"/>
          </a:xfrm>
          <a:prstGeom prst="ellipse">
            <a:avLst/>
          </a:prstGeom>
          <a:solidFill>
            <a:srgbClr val="4A9EFF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986784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474720" y="3895344"/>
            <a:ext cx="2331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於四向標準路口進行隨機車流壓力測試，與定時號誌 PK。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89904" y="3182112"/>
            <a:ext cx="2697480" cy="1627632"/>
          </a:xfrm>
          <a:prstGeom prst="rect">
            <a:avLst/>
          </a:prstGeom>
          <a:solidFill>
            <a:srgbClr val="152033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89904" y="3182112"/>
            <a:ext cx="73152" cy="162763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0" name="Shape 38"/>
          <p:cNvSpPr/>
          <p:nvPr/>
        </p:nvSpPr>
        <p:spPr>
          <a:xfrm>
            <a:off x="6291072" y="3346704"/>
            <a:ext cx="457200" cy="45720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41" name="Text 39"/>
          <p:cNvSpPr/>
          <p:nvPr/>
        </p:nvSpPr>
        <p:spPr>
          <a:xfrm>
            <a:off x="6291072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803136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Findings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291072" y="3895344"/>
            <a:ext cx="2331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結果顯示可顯著降低平均停等時間、縮短佇列、提升吞吐量。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38404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— INTRODUCTION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0" y="82296"/>
            <a:ext cx="2468880" cy="237744"/>
          </a:xfrm>
          <a:prstGeom prst="roundRect">
            <a:avLst>
              <a:gd name="adj" fmla="val 15385"/>
            </a:avLst>
          </a:prstGeom>
          <a:solidFill>
            <a:srgbClr val="4A9E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82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Motivation 動機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0" y="73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 /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研究動機 — 智慧城市時代的交通革命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全球都市化趨勢、AI 技術成熟、市場急迫需求三股力量交會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743200" cy="1691640"/>
          </a:xfrm>
          <a:prstGeom prst="rect">
            <a:avLst/>
          </a:prstGeom>
          <a:solidFill>
            <a:srgbClr val="152033"/>
          </a:solidFill>
          <a:ln w="19050">
            <a:solidFill>
              <a:srgbClr val="4A9E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71600"/>
            <a:ext cx="2743200" cy="50292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🌐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技術成熟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1664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Ready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011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0116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/ Deep Learning 突破性發展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23408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34086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IoT 感測器與 5G 普及部署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26700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67004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雲端運算與邊緣 AI 成本下降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19272" y="1371600"/>
            <a:ext cx="2743200" cy="1691640"/>
          </a:xfrm>
          <a:prstGeom prst="rect">
            <a:avLst/>
          </a:prstGeom>
          <a:solidFill>
            <a:srgbClr val="152033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9272" y="1371600"/>
            <a:ext cx="2743200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3410712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🏙️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需求迫切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10712" y="1664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Urgent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56432" y="2011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▸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39312" y="20116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 57.5% 人口居住在都市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56432" y="23408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39312" y="234086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車輛數量逐年成長，路網承載飽和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56432" y="26700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39312" y="267004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尖峰塞車造成龐大經濟損失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81344" y="1371600"/>
            <a:ext cx="2743200" cy="1691640"/>
          </a:xfrm>
          <a:prstGeom prst="rect">
            <a:avLst/>
          </a:prstGeom>
          <a:solidFill>
            <a:srgbClr val="152033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1371600"/>
            <a:ext cx="2743200" cy="5029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2" name="Text 30"/>
          <p:cNvSpPr/>
          <p:nvPr/>
        </p:nvSpPr>
        <p:spPr>
          <a:xfrm>
            <a:off x="6272784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市場龐大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72784" y="1664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Massive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18504" y="2011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▸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01384" y="20116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智慧城市市場 $877B (2024)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18504" y="23408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▸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01384" y="234086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智慧交通市場 $55B → $124B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18504" y="26700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▸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01384" y="267004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各國政府積極投入基礎建設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3246120"/>
            <a:ext cx="8229600" cy="1234440"/>
          </a:xfrm>
          <a:prstGeom prst="rect">
            <a:avLst/>
          </a:prstGeom>
          <a:solidFill>
            <a:srgbClr val="152033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33101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真實數據 — 為什麼此刻急需智慧號誌？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94360" y="3611880"/>
            <a:ext cx="1965960" cy="822960"/>
          </a:xfrm>
          <a:prstGeom prst="rect">
            <a:avLst/>
          </a:prstGeom>
          <a:solidFill>
            <a:srgbClr val="06102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36576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</a:t>
            </a:r>
            <a:pPr algn="ctr"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hr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640080" y="4023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美國駕駛人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年浪費於塞車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4360" y="4297680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INRIX 2024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606040" y="3611880"/>
            <a:ext cx="1965960" cy="822960"/>
          </a:xfrm>
          <a:prstGeom prst="rect">
            <a:avLst/>
          </a:prstGeom>
          <a:solidFill>
            <a:srgbClr val="06102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06040" y="36576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$74B</a:t>
            </a:r>
            <a:pPr algn="ctr"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USD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2651760" y="4023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美國年度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壅塞經濟損失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606040" y="4297680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INRIX 2024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617720" y="3611880"/>
            <a:ext cx="1965960" cy="822960"/>
          </a:xfrm>
          <a:prstGeom prst="rect">
            <a:avLst/>
          </a:prstGeom>
          <a:solidFill>
            <a:srgbClr val="061020"/>
          </a:solidFill>
          <a:ln w="12700">
            <a:solidFill>
              <a:srgbClr val="B388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720" y="36576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88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102</a:t>
            </a:r>
            <a:pPr algn="ctr"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hr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4663440" y="4023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紐約 / 芝加哥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年塞車時數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617720" y="4297680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INRIX 2024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629400" y="3611880"/>
            <a:ext cx="1965960" cy="822960"/>
          </a:xfrm>
          <a:prstGeom prst="rect">
            <a:avLst/>
          </a:prstGeom>
          <a:solidFill>
            <a:srgbClr val="06102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29400" y="36576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pPr algn="ctr"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↓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6675120" y="4023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新加坡 AI 號誌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尖峰塞車降幅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629400" y="4297680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 2024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4A9EFF">
              <a:alpha val="25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</a:t>
            </a:r>
            <a:pPr algn="ctr"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研究價值：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此刻正是「技術成熟 × 需求迫切 × 市場龐大」三力交會的黃金時機 ——</a:t>
            </a:r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 AI 交通號誌研究具備重大學術與實務價值。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38404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— INTRODUCTION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0" y="82296"/>
            <a:ext cx="2468880" cy="237744"/>
          </a:xfrm>
          <a:prstGeom prst="roundRect">
            <a:avLst>
              <a:gd name="adj" fmla="val 15385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82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But 挑戰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0" y="73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/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現代城市治理的痛點 — 用數據看見問題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傳統靜態號誌如何在尖峰時段製造系統性低效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8412480" cy="1965960"/>
          </a:xfrm>
          <a:prstGeom prst="rect">
            <a:avLst/>
          </a:prstGeom>
          <a:solidFill>
            <a:srgbClr val="152033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898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🚦 痛點一：靜態號誌在不對稱車流下的系統性失效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691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典型台灣都市路口（120 秒固定週期）尖峰時段實測：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93392"/>
          <a:ext cx="8229600" cy="1234440"/>
        </p:xfrm>
        <a:graphic>
          <a:graphicData uri="http://schemas.openxmlformats.org/drawingml/2006/table">
            <a:tbl>
              <a:tblPr/>
              <a:tblGrid>
                <a:gridCol w="1371600"/>
                <a:gridCol w="1691640"/>
                <a:gridCol w="1783080"/>
                <a:gridCol w="1691640"/>
                <a:gridCol w="169164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方向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綠燈時長 (秒)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尖峰佇列 (車輛)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平均等待 (秒)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北向 ↓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96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20+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150+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🔴 壅塞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南向 ↑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96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120+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🔴 壅塞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東向 →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8C5D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0-2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85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🟢 空轉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西向 ←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8C5D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🟢 空轉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65760" y="3383280"/>
            <a:ext cx="4160520" cy="1691640"/>
          </a:xfrm>
          <a:prstGeom prst="rect">
            <a:avLst/>
          </a:prstGeom>
          <a:solidFill>
            <a:srgbClr val="152033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4472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📉 痛點二：路口服務等級 (LOS) 惡化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37033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HCM 標準，控制延遲 (秒/車) 對應服務等級：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" y="3931920"/>
            <a:ext cx="320040" cy="2011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9319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0120" y="39319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10 秒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423160" y="39319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順暢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4151376"/>
            <a:ext cx="320040" cy="20116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4151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" y="415137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20–35 秒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423160" y="41513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可接受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" y="4370832"/>
            <a:ext cx="320040" cy="201168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3708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60120" y="43708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35–55 秒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423160" y="43708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7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壅塞徵兆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" y="4590288"/>
            <a:ext cx="320040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45902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60120" y="45902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55–80 秒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423160" y="4590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嚴重壅塞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8640" y="4809744"/>
            <a:ext cx="320040" cy="20116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4" name="Text 31"/>
          <p:cNvSpPr/>
          <p:nvPr/>
        </p:nvSpPr>
        <p:spPr>
          <a:xfrm>
            <a:off x="548640" y="480974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960120" y="48097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80 秒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2423160" y="48097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崩潰失效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617720" y="3383280"/>
            <a:ext cx="4160520" cy="1691640"/>
          </a:xfrm>
          <a:prstGeom prst="rect">
            <a:avLst/>
          </a:prstGeom>
          <a:solidFill>
            <a:srgbClr val="152033"/>
          </a:solidFill>
          <a:ln w="19050">
            <a:solidFill>
              <a:srgbClr val="B388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54880" y="34472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88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💨 痛點三：走走停停的連鎖代價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754880" y="37033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車輛每停等 1 分鐘所產生的負面效應：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800600" y="39319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⛽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5120640" y="3931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怠速油耗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498080" y="39319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+20%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4800600" y="41513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🌫️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5120640" y="41513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CO₂ 排放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498080" y="41513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+25%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4800600" y="43708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🔁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5120640" y="43708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再起步耗能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7498080" y="4370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3 倍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4800600" y="45902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😤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5120640" y="4590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駕駛壓力指數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7498080" y="45902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顯著上升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4800600" y="480974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🚑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5120640" y="48097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緊急車輛延誤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7498080" y="48097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風險高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365760" y="5074920"/>
            <a:ext cx="8412480" cy="0"/>
          </a:xfrm>
          <a:prstGeom prst="rect">
            <a:avLst/>
          </a:prstGeom>
          <a:noFill/>
          <a:ln w="12700">
            <a:solidFill>
              <a:srgbClr val="E6394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38404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— INTRODUCTION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0" y="82296"/>
            <a:ext cx="2468880" cy="237744"/>
          </a:xfrm>
          <a:prstGeom prst="roundRect">
            <a:avLst>
              <a:gd name="adj" fmla="val 15385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82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But 挑戰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0" y="73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/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交通號誌技術的三代演進 — 效能基準對照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Fixed-Time → Actuated → Adaptive → Deep RL 的延遲改善軌跡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011680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7A8B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71600"/>
            <a:ext cx="2011680" cy="502920"/>
          </a:xfrm>
          <a:prstGeom prst="rect">
            <a:avLst/>
          </a:prstGeom>
          <a:solidFill>
            <a:srgbClr val="7A8BA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389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6184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1958–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Fixed-Time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2128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定時控制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487168"/>
            <a:ext cx="1828800" cy="36576"/>
          </a:xfrm>
          <a:prstGeom prst="rect">
            <a:avLst/>
          </a:prstGeom>
          <a:solidFill>
            <a:srgbClr val="7A8BA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60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B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⚙️ 控制邏輯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依歷史數據設定固定循環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154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B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⏱️ 平均延遲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8B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55–80s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3657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 (基準)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87752" y="1371600"/>
            <a:ext cx="2011680" cy="2743200"/>
          </a:xfrm>
          <a:prstGeom prst="rect">
            <a:avLst/>
          </a:prstGeom>
          <a:solidFill>
            <a:srgbClr val="2A201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87752" y="1371600"/>
            <a:ext cx="2011680" cy="5029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4" name="Text 22"/>
          <p:cNvSpPr/>
          <p:nvPr/>
        </p:nvSpPr>
        <p:spPr>
          <a:xfrm>
            <a:off x="2587752" y="1389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87752" y="16184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1980s–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33472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Actuated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633472" y="22128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感應式控制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79192" y="2487168"/>
            <a:ext cx="1828800" cy="3657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9" name="Text 27"/>
          <p:cNvSpPr/>
          <p:nvPr/>
        </p:nvSpPr>
        <p:spPr>
          <a:xfrm>
            <a:off x="2679192" y="2560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⚙️ 控制邏輯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79192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線圈觸發 (SCATS/SCOOT)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679192" y="3154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⏱️ 平均延遲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79192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12%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679192" y="3657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Fixed-Time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79192" y="3858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局部反應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18304" y="1371600"/>
            <a:ext cx="2011680" cy="2743200"/>
          </a:xfrm>
          <a:prstGeom prst="rect">
            <a:avLst/>
          </a:prstGeom>
          <a:solidFill>
            <a:srgbClr val="0E244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18304" y="1371600"/>
            <a:ext cx="2011680" cy="50292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37" name="Text 35"/>
          <p:cNvSpPr/>
          <p:nvPr/>
        </p:nvSpPr>
        <p:spPr>
          <a:xfrm>
            <a:off x="4718304" y="1389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 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18304" y="16184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2000s–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64024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64024" y="22128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自適應控制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9744" y="2487168"/>
            <a:ext cx="1828800" cy="36576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2" name="Text 40"/>
          <p:cNvSpPr/>
          <p:nvPr/>
        </p:nvSpPr>
        <p:spPr>
          <a:xfrm>
            <a:off x="4809744" y="2560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⚙️ 控制邏輯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9744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規則 + 即時感測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09744" y="3154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⏱️ 平均延遲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09744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20%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809744" y="3657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Fixed-Time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09744" y="3858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等待時間 ↓ 30-40%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48856" y="1371600"/>
            <a:ext cx="2011680" cy="2743200"/>
          </a:xfrm>
          <a:prstGeom prst="rect">
            <a:avLst/>
          </a:prstGeom>
          <a:solidFill>
            <a:srgbClr val="0F3325"/>
          </a:solidFill>
          <a:ln w="31750">
            <a:solidFill>
              <a:srgbClr val="06D6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48856" y="1371600"/>
            <a:ext cx="2011680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0" name="Text 48"/>
          <p:cNvSpPr/>
          <p:nvPr/>
        </p:nvSpPr>
        <p:spPr>
          <a:xfrm>
            <a:off x="6848856" y="1389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 4 ★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48856" y="16184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2016–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94576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RL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894576" y="22128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深度強化學習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940296" y="2487168"/>
            <a:ext cx="18288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5" name="Text 53"/>
          <p:cNvSpPr/>
          <p:nvPr/>
        </p:nvSpPr>
        <p:spPr>
          <a:xfrm>
            <a:off x="6940296" y="2560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⚙️ 控制邏輯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940296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DQN 數據驅動學習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940296" y="3154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⏱️ 平均延遲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940296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66–82%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6940296" y="3657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Fixed-Time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940296" y="3858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佇列 ↓ 66%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487168" y="256032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5D6"/>
                </a:solidFill>
              </a:rPr>
              <a:t>→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617720" y="256032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5D6"/>
                </a:solidFill>
              </a:rPr>
              <a:t>→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748272" y="256032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5D6"/>
                </a:solidFill>
              </a:rPr>
              <a:t>→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65760" y="4434840"/>
            <a:ext cx="8412480" cy="566928"/>
          </a:xfrm>
          <a:prstGeom prst="rect">
            <a:avLst/>
          </a:prstGeom>
          <a:solidFill>
            <a:srgbClr val="06D6A0">
              <a:alpha val="20000"/>
            </a:srgbClr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44622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📈 </a:t>
            </a:r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演進趨勢：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從靜態規則 → 局部反應 → AI 自適應 → 數據驅動學習，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每一代都在挑戰前代效能極限。</a:t>
            </a:r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Deep RL 是當前的最佳解法，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而本研究將實作此第四代技術。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38404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— RELATED 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0" y="82296"/>
            <a:ext cx="2468880" cy="237744"/>
          </a:xfrm>
          <a:prstGeom prst="roundRect">
            <a:avLst>
              <a:gd name="adj" fmla="val 15385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82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But 挑戰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0" y="73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 /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Article Summary Table — 文獻比較總表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三代交通號誌控制技術定錨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324612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2103120"/>
                <a:gridCol w="1691640"/>
                <a:gridCol w="16916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代表文獻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決策邏輯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實測效能 (vs Fixed)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缺點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D1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Fixed-Time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D1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定時控制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Webster (1958)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依歷史數據設定固定循環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8BA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基準 (LOS E: 55-80s)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8B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缺乏彈性、易綠燈空轉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D1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Actuated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D1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感應式控制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SCATS / SCOOT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線圈觸發 (Rule-based) 被動反應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D1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延遲 ↓ 12%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8B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僅單一車道、無全局最佳化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D1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Q-Learning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D1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表格式 RL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Wiering (2000)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Q-Table 查表式學習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9E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延遲 ↓ ~30%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8B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狀態空間爆炸、難擴展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D1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DQN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D1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深度 Q 網路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Genders &amp; Razavi (2016)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神經網路逼近 Q 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延遲 ↓ 82% / 佇列 ↓ 66%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8B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訓練不穩定、需穩定化機制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 本研究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DQN + SUMO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DQN + Experience Replay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 Target Network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目標：等待時間 ↓ 30%+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需大量訓練樣本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E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本研究定位：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結合 DQN 學習能力與 SUMO 模擬真實性，突破靜態規則極限，實現全局動態最佳化。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38404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— RELATED 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0" y="82296"/>
            <a:ext cx="2468880" cy="237744"/>
          </a:xfrm>
          <a:prstGeom prst="roundRect">
            <a:avLst>
              <a:gd name="adj" fmla="val 15385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82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But 挑戰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0" y="73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/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Prior Work — 前人研究的量化效能數據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DRL 在交通號誌控制上已展現顯著改善（vs. Fixed-Time 基準）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2697480" cy="1417320"/>
          </a:xfrm>
          <a:prstGeom prst="rect">
            <a:avLst/>
          </a:prstGeom>
          <a:solidFill>
            <a:srgbClr val="152033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087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57200" y="21305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Delay 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平均累積延遲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58775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Genders &amp; Razavi (2016)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73552" y="1417320"/>
            <a:ext cx="2697480" cy="1417320"/>
          </a:xfrm>
          <a:prstGeom prst="rect">
            <a:avLst/>
          </a:prstGeom>
          <a:solidFill>
            <a:srgbClr val="152033"/>
          </a:solidFill>
          <a:ln w="25400">
            <a:solidFill>
              <a:srgbClr val="4A9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5087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3273552" y="21305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Length 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73552" y="23774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平均佇列長度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73552" y="258775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Genders &amp; Razavi (2016)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9904" y="1417320"/>
            <a:ext cx="2697480" cy="1417320"/>
          </a:xfrm>
          <a:prstGeom prst="rect">
            <a:avLst/>
          </a:prstGeom>
          <a:solidFill>
            <a:srgbClr val="152033"/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9904" y="15087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089904" y="21305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Time 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9904" y="23774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平均旅行時間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89904" y="258775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Genders &amp; Razavi (2016)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017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其他相關文獻的效能改善範圍 (vs. Fixed-Time)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8229600" cy="128016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463040"/>
                <a:gridCol w="1371600"/>
                <a:gridCol w="1188720"/>
                <a:gridCol w="7315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文獻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方法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Waiting Time 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Queue Length 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Travel Time 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模擬器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Genders &amp; Razavi (2016)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Deep CNN + DQN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66%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SUMO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Pan et al. (2023)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DQN + Memory Palace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57.1% ~ 100%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40.9% ~ 100%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16.8% ~ 68%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SUMO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Pri-DDQN (2024)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Double DQN + PER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21.5% (vs Fixed)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顯著縮短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SUMO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Liu et al. (PMC, 2022)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DQN vs SAC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Avg Delay 5.13s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SUMO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結論：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DRL 在 SUMO 平台上已被廣泛驗證可大幅改善交通效率，本研究在此基礎上進一步整合 DQN 穩定化機制。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509" y="365760"/>
            <a:ext cx="8566982" cy="47777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09728" cy="36576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" y="54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— PROPOSED SCHEME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0" y="64008"/>
            <a:ext cx="2468880" cy="237744"/>
          </a:xfrm>
          <a:prstGeom prst="roundRect">
            <a:avLst>
              <a:gd name="adj" fmla="val 15385"/>
            </a:avLst>
          </a:prstGeom>
          <a:solidFill>
            <a:srgbClr val="06D6A0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0" y="640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Cure 解藥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80960" y="54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 / 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509" y="365760"/>
            <a:ext cx="8566982" cy="47777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09728" cy="36576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" y="54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— PROPOSED SCHEME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0" y="64008"/>
            <a:ext cx="2468880" cy="237744"/>
          </a:xfrm>
          <a:prstGeom prst="roundRect">
            <a:avLst>
              <a:gd name="adj" fmla="val 15385"/>
            </a:avLst>
          </a:prstGeom>
          <a:solidFill>
            <a:srgbClr val="FFD166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0" y="640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Development 設計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80960" y="54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/ 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38404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— PROPOSED SCHEME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0" y="82296"/>
            <a:ext cx="2468880" cy="237744"/>
          </a:xfrm>
          <a:prstGeom prst="roundRect">
            <a:avLst>
              <a:gd name="adj" fmla="val 15385"/>
            </a:avLst>
          </a:prstGeom>
          <a:solidFill>
            <a:srgbClr val="FFD16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82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Development 設計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0" y="73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/ 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MDP 建模：將交通路口轉化為強化學習問題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5-tuple ⟨S, A, P, R, γ⟩ 形式化定義決策過程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17320"/>
            <a:ext cx="1645920" cy="100584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DQN 神經網路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1305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(交通號誌控制器)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57400" y="1920240"/>
            <a:ext cx="1280160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05740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aₜ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1417320"/>
            <a:ext cx="2377440" cy="10058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Environment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38328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SUMO 模擬路口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1305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(車流動態)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06440" y="1783080"/>
            <a:ext cx="0" cy="274320"/>
          </a:xfrm>
          <a:prstGeom prst="line">
            <a:avLst/>
          </a:prstGeom>
          <a:noFill/>
          <a:ln w="12700">
            <a:solidFill>
              <a:srgbClr val="B8C5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1920240"/>
            <a:ext cx="1280160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594360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rₜ + State sₜ₊₁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69480" y="1417320"/>
            <a:ext cx="1508760" cy="10058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7269480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 + 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69480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觀測 + 獎勵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21305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(回饋訊號)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28432" y="2423160"/>
            <a:ext cx="0" cy="292608"/>
          </a:xfrm>
          <a:prstGeom prst="line">
            <a:avLst/>
          </a:prstGeom>
          <a:noFill/>
          <a:ln w="25400">
            <a:solidFill>
              <a:srgbClr val="B8C5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2715768"/>
            <a:ext cx="6839712" cy="0"/>
          </a:xfrm>
          <a:prstGeom prst="line">
            <a:avLst/>
          </a:prstGeom>
          <a:noFill/>
          <a:ln w="25400">
            <a:solidFill>
              <a:srgbClr val="B8C5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" y="2423160"/>
            <a:ext cx="0" cy="292608"/>
          </a:xfrm>
          <a:prstGeom prst="line">
            <a:avLst/>
          </a:prstGeom>
          <a:noFill/>
          <a:ln w="25400">
            <a:solidFill>
              <a:srgbClr val="B8C5D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65760" y="3017520"/>
            <a:ext cx="4297680" cy="17830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108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📐 MDP 5-tuple ⟨S, A, P, R, γ⟩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3456432"/>
            <a:ext cx="228600" cy="228600"/>
          </a:xfrm>
          <a:prstGeom prst="ellipse">
            <a:avLst/>
          </a:prstGeom>
          <a:solidFill>
            <a:srgbClr val="4A9EFF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456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" y="34381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State 狀態空間 (5 維向量)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3712464"/>
            <a:ext cx="228600" cy="2286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7124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8680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Action 動作空間 (Keep / Change)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3968496"/>
            <a:ext cx="228600" cy="22860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9684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8680" y="3950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Transition 轉移機率 (由 SUMO 決定)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4224528"/>
            <a:ext cx="228600" cy="22860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68680" y="4206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Reward 獎勵函數 (負累積等待時間)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4480560"/>
            <a:ext cx="228600" cy="228600"/>
          </a:xfrm>
          <a:prstGeom prst="ellipse">
            <a:avLst/>
          </a:prstGeom>
          <a:solidFill>
            <a:srgbClr val="B388EB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68680" y="4462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Discount Factor 折扣因子 = 0.95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00600" y="3017520"/>
            <a:ext cx="3977640" cy="17830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31089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Bellman 最優方程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937760" y="3429000"/>
            <a:ext cx="3703320" cy="502920"/>
          </a:xfrm>
          <a:prstGeom prst="rect">
            <a:avLst/>
          </a:prstGeom>
          <a:solidFill>
            <a:srgbClr val="061020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34290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Q*(s,a) = E[r + γ·maxₐ' Q*(s', a')]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937760" y="402336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最優策略 (Optimal Policy)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937760" y="4251960"/>
            <a:ext cx="3703320" cy="411480"/>
          </a:xfrm>
          <a:prstGeom prst="rect">
            <a:avLst/>
          </a:prstGeom>
          <a:solidFill>
            <a:srgbClr val="061020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0" y="42519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π*(s) = argmaxₐ Q*(s, a)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DQN 用神經網路 Q(s, a; θ) 逼近最優 Q*(s, a)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38404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— PROPOSED SCHEME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0" y="82296"/>
            <a:ext cx="2468880" cy="237744"/>
          </a:xfrm>
          <a:prstGeom prst="roundRect">
            <a:avLst>
              <a:gd name="adj" fmla="val 15385"/>
            </a:avLst>
          </a:prstGeom>
          <a:solidFill>
            <a:srgbClr val="FFD16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82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Development 設計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0" y="73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/ 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狀態空間 (State Space) — 環境觀測設計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看到的是 5 維向量：四向佇列長度 + 當前相位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371600"/>
            <a:ext cx="8412480" cy="685800"/>
          </a:xfrm>
          <a:prstGeom prst="rect">
            <a:avLst/>
          </a:prstGeom>
          <a:solidFill>
            <a:srgbClr val="152033"/>
          </a:solidFill>
          <a:ln w="25400">
            <a:solidFill>
              <a:srgbClr val="4A9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716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sₜ = [Q_N, Q_E, Q_S, Q_W, φₜ] ∈ ℝ⁵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206240" cy="2377440"/>
          </a:xfrm>
          <a:prstGeom prst="rect">
            <a:avLst/>
          </a:prstGeom>
          <a:solidFill>
            <a:srgbClr val="152033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86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📋 變數定義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606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Q_N, Q_E, Q_S, Q_W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8072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東/西/南/北四向當前停等車輛數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(車速 &lt; 0.1 m/s 視為停等)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φₜ ∈ {0, 1, 2, 3}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7216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當前號誌相位編號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Dim(S) = 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1788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狀態維度（離散+連續混合）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194560"/>
            <a:ext cx="4069080" cy="2377440"/>
          </a:xfrm>
          <a:prstGeom prst="rect">
            <a:avLst/>
          </a:prstGeom>
          <a:solidFill>
            <a:srgbClr val="152033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2860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為什麼選 5 維簡潔狀態？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6060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2606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避免維度詛咒：DTSE 矩陣 (Genders, 2016)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 60×60 維，訓練成本高 100+ 倍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308152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20640" y="30815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聚焦核心資訊：佇列長度已充分反映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壅塞程度，是 reward 的主要驅動因子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35570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20640" y="355701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感測器友善：實務部署只需四向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車輛計數器（線圈/相機），易落地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403250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20640" y="40325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可擴展：未來可加入平均車速、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相位持續時間等特徵 (Future Work)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690872"/>
            <a:ext cx="8412480" cy="329184"/>
          </a:xfrm>
          <a:prstGeom prst="rect">
            <a:avLst/>
          </a:prstGeom>
          <a:solidFill>
            <a:srgbClr val="4A9EFF">
              <a:alpha val="20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6908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9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🔍 觀測來源：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TraCI API 在每個 simulation step 從 SUMO 抓取車輛資訊並轉換為狀態向量。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38404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— PROPOSED SCHEME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0" y="82296"/>
            <a:ext cx="2468880" cy="237744"/>
          </a:xfrm>
          <a:prstGeom prst="roundRect">
            <a:avLst>
              <a:gd name="adj" fmla="val 15385"/>
            </a:avLst>
          </a:prstGeom>
          <a:solidFill>
            <a:srgbClr val="FFD16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82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Development 設計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0" y="73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/ 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動作空間 (Action Space) — 決策空間與安全約束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Binary Action 設計：Keep / Change，配合最小綠燈時間限制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371600"/>
            <a:ext cx="8412480" cy="640080"/>
          </a:xfrm>
          <a:prstGeom prst="rect">
            <a:avLst/>
          </a:prstGeom>
          <a:solidFill>
            <a:srgbClr val="152033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71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{a₀, a₁} = {Keep, Change}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4160520" cy="1417320"/>
          </a:xfrm>
          <a:prstGeom prst="rect">
            <a:avLst/>
          </a:prstGeom>
          <a:solidFill>
            <a:srgbClr val="1A3A1A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402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a₀ = Keep（維持當前相位）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587752"/>
            <a:ext cx="3886200" cy="365760"/>
          </a:xfrm>
          <a:prstGeom prst="rect">
            <a:avLst/>
          </a:prstGeom>
          <a:solidFill>
            <a:srgbClr val="061020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877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φₜ₊₁ = φₜ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0175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適用情境：當前相位車流仍未疏散完畢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2461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模擬時間：每 5 秒做一次決策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2148840"/>
            <a:ext cx="4160520" cy="1417320"/>
          </a:xfrm>
          <a:prstGeom prst="rect">
            <a:avLst/>
          </a:prstGeom>
          <a:solidFill>
            <a:srgbClr val="3A1A1A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2402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a₁ = Change（切換下一相位）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2587752"/>
            <a:ext cx="3886200" cy="365760"/>
          </a:xfrm>
          <a:prstGeom prst="rect">
            <a:avLst/>
          </a:prstGeom>
          <a:solidFill>
            <a:srgbClr val="061020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877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φₜ₊₁ = (φₜ + 1) mod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0175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自動安插 3 秒黃燈 + 1 秒全紅過渡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32461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切換後重置綠燈計時器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8412480" cy="1325880"/>
          </a:xfrm>
          <a:prstGeom prst="rect">
            <a:avLst/>
          </a:prstGeom>
          <a:solidFill>
            <a:srgbClr val="152033"/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安全約束 (Safety Constraints) — 防止 Agent 學到瘋狂切換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160520"/>
            <a:ext cx="2651760" cy="804672"/>
          </a:xfrm>
          <a:prstGeom prst="rect">
            <a:avLst/>
          </a:prstGeom>
          <a:solidFill>
            <a:srgbClr val="061020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2062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最小綠燈時間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4434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t_green ≥ t_min = 10s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4690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若未達最小綠燈，強制忽略 Change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4160520"/>
            <a:ext cx="2651760" cy="804672"/>
          </a:xfrm>
          <a:prstGeom prst="rect">
            <a:avLst/>
          </a:prstGeom>
          <a:solidFill>
            <a:srgbClr val="061020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42062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C2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黃燈過渡保護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4434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Yellow = 3s, All-Red = 1s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83280" y="4690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確保駕駛安全與物理切換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0760" y="4160520"/>
            <a:ext cx="2651760" cy="804672"/>
          </a:xfrm>
          <a:prstGeom prst="rect">
            <a:avLst/>
          </a:prstGeom>
          <a:solidFill>
            <a:srgbClr val="061020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42062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C3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決策週期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72200" y="4434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Δt_decision = 5s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72200" y="4690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每 5 秒觀測並決策一次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38404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— PROPOSED SCHEME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0" y="82296"/>
            <a:ext cx="2468880" cy="237744"/>
          </a:xfrm>
          <a:prstGeom prst="roundRect">
            <a:avLst>
              <a:gd name="adj" fmla="val 15385"/>
            </a:avLst>
          </a:prstGeom>
          <a:solidFill>
            <a:srgbClr val="FFD16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82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Development 設計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0" y="73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/ 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獎勵函數 (Reward Function)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用負累積等待時間懲罰，引導 Agent 學會盡快疏散車流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152033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Reward Function 公式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rₜ = − Σ  wₗ(t)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3931920" cy="2148840"/>
          </a:xfrm>
          <a:prstGeom prst="rect">
            <a:avLst/>
          </a:prstGeom>
          <a:solidFill>
            <a:srgbClr val="152033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📐 符號定義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0358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A9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200" y="3035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在時刻 t 獲得的即時獎勵 (≤ 0)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4198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A9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wₗ(t)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34198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車道 ℓ 在時刻 t 的累積等待時間 (秒)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8039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A9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ℓ ∈ 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38039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 = {N, E, S, W} 四個進入車道集合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A9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4187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對所有車道累積等待時間求和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26280" y="2606040"/>
            <a:ext cx="4160520" cy="2148840"/>
          </a:xfrm>
          <a:prstGeom prst="rect">
            <a:avLst/>
          </a:prstGeom>
          <a:solidFill>
            <a:srgbClr val="152033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697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設計邏輯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09160" y="303580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3035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等待時間越長 → 懲罰越大（rₜ 越負）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9160" y="341985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34198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為了最大化 Σγᵏrₜ₊ₖ，必須最小化總等待時間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09160" y="38039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3803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天然優先處理「等最久」的車流方向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09160" y="418795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4187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目標：rₜ → 0 (理想無等待)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38404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— PROPOSED SCHEME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0" y="82296"/>
            <a:ext cx="2468880" cy="237744"/>
          </a:xfrm>
          <a:prstGeom prst="roundRect">
            <a:avLst>
              <a:gd name="adj" fmla="val 15385"/>
            </a:avLst>
          </a:prstGeom>
          <a:solidFill>
            <a:srgbClr val="FFD16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82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Development 設計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0" y="73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/ 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DQN 核心演算法 — 神經網路與 Loss Function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Q(s,a;θ) 逼近 Q*(s,a)，並透過 TD-error 最小化更新權重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371600"/>
            <a:ext cx="8412480" cy="1508760"/>
          </a:xfrm>
          <a:prstGeom prst="rect">
            <a:avLst/>
          </a:prstGeom>
          <a:solidFill>
            <a:srgbClr val="152033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44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🧠 神經網路架構 (Q-Network Architecture)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1828800"/>
            <a:ext cx="2468880" cy="960120"/>
          </a:xfrm>
          <a:prstGeom prst="rect">
            <a:avLst/>
          </a:prstGeom>
          <a:solidFill>
            <a:srgbClr val="061020"/>
          </a:solidFill>
          <a:ln w="19050">
            <a:solidFill>
              <a:srgbClr val="4A9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74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sₜ ∈ ℝ⁵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 維狀態向量)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71800" y="1828800"/>
            <a:ext cx="118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C5D6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090672" y="1828800"/>
            <a:ext cx="3108960" cy="960120"/>
          </a:xfrm>
          <a:prstGeom prst="rect">
            <a:avLst/>
          </a:prstGeom>
          <a:solidFill>
            <a:srgbClr val="061020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1874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90672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 × 2 (128 + 64 units)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Activation: ReLU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99632" y="1828800"/>
            <a:ext cx="118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C5D6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318504" y="1828800"/>
            <a:ext cx="2606040" cy="960120"/>
          </a:xfrm>
          <a:prstGeom prst="rect">
            <a:avLst/>
          </a:prstGeom>
          <a:solidFill>
            <a:srgbClr val="061020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1874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18504" y="21945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Q(s, a₀), Q(s, a₁) ∈ ℝ²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(no activation)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8412480" cy="1783080"/>
          </a:xfrm>
          <a:prstGeom prst="rect">
            <a:avLst/>
          </a:prstGeom>
          <a:solidFill>
            <a:srgbClr val="152033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📉 Loss Function — TD Error 最小化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456432"/>
            <a:ext cx="8046720" cy="548640"/>
          </a:xfrm>
          <a:prstGeom prst="rect">
            <a:avLst/>
          </a:prstGeom>
          <a:solidFill>
            <a:srgbClr val="061020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4564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L(θ) = 𝔼[ ( yₜ − Q(sₜ, aₜ ; θ) )² ]    where   yₜ = rₜ + γ · maxₐ' Q(sₜ₊₁, a' ; θ⁻)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069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4A9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θ</a:t>
            </a:r>
            <a:pPr indent="0" marL="0">
              <a:buNone/>
            </a:pPr>
            <a:r>
              <a:rPr lang="en-US" sz="105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：Policy Network 權重（每步更新）   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0" y="4069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θ⁻</a:t>
            </a:r>
            <a:pPr indent="0" marL="0">
              <a:buNone/>
            </a:pPr>
            <a:r>
              <a:rPr lang="en-US" sz="105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：Target Network 權重（C 步同步一次）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4389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6D6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yₜ</a:t>
            </a:r>
            <a:pPr indent="0" marL="0">
              <a:buNone/>
            </a:pPr>
            <a:r>
              <a:rPr lang="en-US" sz="105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：TD Target — 由 Bellman 方程計算的目標 Q 值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/1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509" y="365760"/>
            <a:ext cx="8566982" cy="47777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09728" cy="36576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" y="54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— PROPOSED SCHEME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0" y="64008"/>
            <a:ext cx="2468880" cy="237744"/>
          </a:xfrm>
          <a:prstGeom prst="roundRect">
            <a:avLst>
              <a:gd name="adj" fmla="val 15385"/>
            </a:avLst>
          </a:prstGeom>
          <a:solidFill>
            <a:srgbClr val="FFD166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0" y="640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Development 設計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80960" y="54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/ 9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38404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— PROPOSED SCHEME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0" y="82296"/>
            <a:ext cx="2468880" cy="237744"/>
          </a:xfrm>
          <a:prstGeom prst="roundRect">
            <a:avLst>
              <a:gd name="adj" fmla="val 15385"/>
            </a:avLst>
          </a:prstGeom>
          <a:solidFill>
            <a:srgbClr val="FFD16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82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Development 設計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0" y="73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/ 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超參數設定與演算法選擇正當性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Hyperparameters &amp; Why DQN over PPO/A3C/Rainbow?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371600"/>
            <a:ext cx="4572000" cy="3611880"/>
          </a:xfrm>
          <a:prstGeom prst="rect">
            <a:avLst/>
          </a:prstGeom>
          <a:solidFill>
            <a:srgbClr val="152033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447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⚙️ 超參數設定 (Hyperparameters)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4297680" cy="310896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14630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參數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數值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說明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Learning rate α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Adam optimizer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Discount γ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未來獎勵折扣率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ε (起始 → 終止)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 → 0.05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ε-greedy 探索率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ε-decay rate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0.995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 episode 衰減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Replay buffer size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50,000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經驗回放池容量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Batch size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訓練批次大小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Target update C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每 500 步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目標網路同步頻率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Hidden layers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[128, 64]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全連接層神經元數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074920" y="1371600"/>
            <a:ext cx="3703320" cy="3611880"/>
          </a:xfrm>
          <a:prstGeom prst="rect">
            <a:avLst/>
          </a:prstGeom>
          <a:solidFill>
            <a:srgbClr val="152033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0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為什麼選 DQN？(vs PPO/A3C)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212080" y="18288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532120" y="181051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Action 是離散的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532120" y="2057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Keep / Change 為 binary 動作，DQN 天生適合，無需 Policy Gradient。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212080" y="24231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532120" y="240487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Off-policy 訓練效率高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32120" y="26517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可重複利用 Experience Replay 樣本，遠比 on-policy 的 PPO/A3C 省訓練資源。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212080" y="30175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532120" y="299923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經典且文獻基準明確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532120" y="3246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Genders &amp; Razavi (2016) 已建立 baseline，可直接對比效能。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212080" y="36118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532120" y="359359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教學與除錯友善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532120" y="3840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Loss 與 Q-value 收斂可視化，比 Actor-Critic 更易調試。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212080" y="4206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532120" y="418795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可漸進升級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532120" y="44348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未來可擴展至 Double DQN / Dueling DQN / Rainbow（Future Work）。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38404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— EXPECTED CONTRIBUTION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0" y="82296"/>
            <a:ext cx="2468880" cy="237744"/>
          </a:xfrm>
          <a:prstGeom prst="roundRect">
            <a:avLst>
              <a:gd name="adj" fmla="val 15385"/>
            </a:avLst>
          </a:prstGeom>
          <a:solidFill>
            <a:srgbClr val="F77F0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82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Findings 發現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0" y="73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 /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預期貢獻 — 智慧城市的新大腦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5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本研究預期達成的量化效能改善目標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1993392" cy="1508760"/>
          </a:xfrm>
          <a:prstGeom prst="rect">
            <a:avLst/>
          </a:prstGeom>
          <a:solidFill>
            <a:srgbClr val="152033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630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02920" y="202996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停等時間 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313432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Waiting 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57860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Fixed-Time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9464" y="1371600"/>
            <a:ext cx="1993392" cy="1508760"/>
          </a:xfrm>
          <a:prstGeom prst="rect">
            <a:avLst/>
          </a:prstGeom>
          <a:solidFill>
            <a:srgbClr val="152033"/>
          </a:solidFill>
          <a:ln w="25400">
            <a:solidFill>
              <a:srgbClr val="4A9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9464" y="14630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40%+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615184" y="202996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佇列長度 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15184" y="2313432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Length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15184" y="257860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Fixed-Time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81728" y="1371600"/>
            <a:ext cx="1993392" cy="1508760"/>
          </a:xfrm>
          <a:prstGeom prst="rect">
            <a:avLst/>
          </a:prstGeom>
          <a:solidFill>
            <a:srgbClr val="152033"/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14630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727448" y="202996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整體吞吐量 ↑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27448" y="2313432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27448" y="257860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Fixed-Time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93992" y="1371600"/>
            <a:ext cx="1993392" cy="1508760"/>
          </a:xfrm>
          <a:prstGeom prst="rect">
            <a:avLst/>
          </a:prstGeom>
          <a:solidFill>
            <a:srgbClr val="152033"/>
          </a:solidFill>
          <a:ln w="25400">
            <a:solidFill>
              <a:srgbClr val="B388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93992" y="14630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388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15%+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839712" y="202996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CO₂ 排放 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39712" y="2313432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Emission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39712" y="257860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減少怠速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108960"/>
            <a:ext cx="2743200" cy="1691640"/>
          </a:xfrm>
          <a:prstGeom prst="rect">
            <a:avLst/>
          </a:prstGeom>
          <a:solidFill>
            <a:srgbClr val="152033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108960"/>
            <a:ext cx="2743200" cy="41148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136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🎓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學術貢獻</a:t>
            </a:r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Academic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94360" y="361188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A9EFF"/>
                </a:solidFill>
              </a:rPr>
              <a:t>▸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SUMO + DQN 完整實作框架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" y="397764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A9EFF"/>
                </a:solidFill>
              </a:rPr>
              <a:t>▸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" y="3977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5 維簡潔狀態的有效性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" y="434340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A9EFF"/>
                </a:solidFill>
              </a:rPr>
              <a:t>▸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" y="4343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 Multi-Agent 擴展奠定基礎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19272" y="3108960"/>
            <a:ext cx="2743200" cy="1691640"/>
          </a:xfrm>
          <a:prstGeom prst="rect">
            <a:avLst/>
          </a:prstGeom>
          <a:solidFill>
            <a:srgbClr val="152033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19272" y="3108960"/>
            <a:ext cx="2743200" cy="41148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1" name="Text 39"/>
          <p:cNvSpPr/>
          <p:nvPr/>
        </p:nvSpPr>
        <p:spPr>
          <a:xfrm>
            <a:off x="3410712" y="3136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🏭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產業貢獻</a:t>
            </a:r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Industry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456432" y="361188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▸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39312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可整合至現有 ITS 基礎建設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456432" y="397764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▸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39312" y="3977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降低號誌智慧化部署成本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456432" y="434340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▸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39312" y="4343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支援台灣交通局實證計畫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81344" y="3108960"/>
            <a:ext cx="2743200" cy="1691640"/>
          </a:xfrm>
          <a:prstGeom prst="rect">
            <a:avLst/>
          </a:prstGeom>
          <a:solidFill>
            <a:srgbClr val="152033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81344" y="3108960"/>
            <a:ext cx="2743200" cy="4114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0" name="Text 48"/>
          <p:cNvSpPr/>
          <p:nvPr/>
        </p:nvSpPr>
        <p:spPr>
          <a:xfrm>
            <a:off x="6272784" y="3136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🌱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社會貢獻</a:t>
            </a:r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Society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318504" y="361188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▸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501384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降低駕駛通勤時間與壓力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18504" y="397764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▸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501384" y="3977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減少碳排放、邁向永續城市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18504" y="434340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▸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501384" y="4343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緊急車輛優先通行 (Future)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65760" y="4864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</a:t>
            </a:r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願景：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讓每個十字路口成為「智慧大腦」，</a:t>
            </a:r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資料驅動 × 動態決策 × 永續低碳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邁向真正的智慧城市未來。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自動化紅綠燈交通控制</dc:title>
  <dc:subject>PptxGenJS Presentation</dc:subject>
  <dc:creator>Deep RL Traffic Control</dc:creator>
  <cp:lastModifiedBy>Deep RL Traffic Control</cp:lastModifiedBy>
  <cp:revision>1</cp:revision>
  <dcterms:created xsi:type="dcterms:W3CDTF">2026-04-26T15:58:27Z</dcterms:created>
  <dcterms:modified xsi:type="dcterms:W3CDTF">2026-04-26T15:58:27Z</dcterms:modified>
</cp:coreProperties>
</file>